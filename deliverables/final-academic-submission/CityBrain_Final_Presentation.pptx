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f4cc67add6436d" /><Relationship Type="http://schemas.openxmlformats.org/officeDocument/2006/relationships/extended-properties" Target="/docProps/app.xml" Id="Re616d6eb28804a89" /><Relationship Type="http://schemas.openxmlformats.org/officeDocument/2006/relationships/officeDocument" Target="/ppt/presentation.xml" Id="Rbae3cd832fd44d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c7ca94d6254af2"/>
  </p:sldMasterIdLst>
  <p:notesMasterIdLst>
    <p:notesMasterId xmlns:r="http://schemas.openxmlformats.org/officeDocument/2006/relationships" r:id="R77318f99e0404e40"/>
  </p:notesMasterIdLst>
  <p:sldIdLst>
    <p:sldId xmlns:r="http://schemas.openxmlformats.org/officeDocument/2006/relationships" id="256" r:id="R54289a4d17fa4f91"/>
    <p:sldId xmlns:r="http://schemas.openxmlformats.org/officeDocument/2006/relationships" id="257" r:id="Rcb9a2d78ed544f8b"/>
    <p:sldId xmlns:r="http://schemas.openxmlformats.org/officeDocument/2006/relationships" id="258" r:id="R1f99b14c65584372"/>
    <p:sldId xmlns:r="http://schemas.openxmlformats.org/officeDocument/2006/relationships" id="259" r:id="Rf753ff871fe04dfb"/>
    <p:sldId xmlns:r="http://schemas.openxmlformats.org/officeDocument/2006/relationships" id="260" r:id="Ra25935d38bc9451d"/>
    <p:sldId xmlns:r="http://schemas.openxmlformats.org/officeDocument/2006/relationships" id="261" r:id="R7d1a98a7b60b4f4f"/>
    <p:sldId xmlns:r="http://schemas.openxmlformats.org/officeDocument/2006/relationships" id="262" r:id="R09fdee9c8b7243ab"/>
    <p:sldId xmlns:r="http://schemas.openxmlformats.org/officeDocument/2006/relationships" id="263" r:id="R7cb261106c794143"/>
    <p:sldId xmlns:r="http://schemas.openxmlformats.org/officeDocument/2006/relationships" id="264" r:id="R140475eb207f4ee5"/>
    <p:sldId xmlns:r="http://schemas.openxmlformats.org/officeDocument/2006/relationships" id="265" r:id="Ree9a5d5c4c794e78"/>
    <p:sldId xmlns:r="http://schemas.openxmlformats.org/officeDocument/2006/relationships" id="266" r:id="R057aee63cfa94700"/>
    <p:sldId xmlns:r="http://schemas.openxmlformats.org/officeDocument/2006/relationships" id="267" r:id="R0c3576e58bf5435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3273b5db6e4268" /><Relationship Type="http://schemas.openxmlformats.org/officeDocument/2006/relationships/slideMaster" Target="/ppt/slideMasters/slideMaster1.xml" Id="R83c7ca94d6254af2" /><Relationship Type="http://schemas.openxmlformats.org/officeDocument/2006/relationships/notesMaster" Target="/ppt/notesMasters/notesMaster1.xml" Id="R77318f99e0404e40" /><Relationship Type="http://schemas.openxmlformats.org/officeDocument/2006/relationships/presProps" Target="/ppt/presProps.xml" Id="Rb4e9b18686de4a8a" /><Relationship Type="http://schemas.openxmlformats.org/officeDocument/2006/relationships/tableStyles" Target="/ppt/tableStyles.xml" Id="R20487b9b166f4cf7" /><Relationship Type="http://schemas.openxmlformats.org/officeDocument/2006/relationships/slide" Target="/ppt/slides/slide1.xml" Id="R54289a4d17fa4f91" /><Relationship Type="http://schemas.openxmlformats.org/officeDocument/2006/relationships/slide" Target="/ppt/slides/slide2.xml" Id="Rcb9a2d78ed544f8b" /><Relationship Type="http://schemas.openxmlformats.org/officeDocument/2006/relationships/slide" Target="/ppt/slides/slide3.xml" Id="R1f99b14c65584372" /><Relationship Type="http://schemas.openxmlformats.org/officeDocument/2006/relationships/slide" Target="/ppt/slides/slide4.xml" Id="Rf753ff871fe04dfb" /><Relationship Type="http://schemas.openxmlformats.org/officeDocument/2006/relationships/slide" Target="/ppt/slides/slide5.xml" Id="Ra25935d38bc9451d" /><Relationship Type="http://schemas.openxmlformats.org/officeDocument/2006/relationships/slide" Target="/ppt/slides/slide6.xml" Id="R7d1a98a7b60b4f4f" /><Relationship Type="http://schemas.openxmlformats.org/officeDocument/2006/relationships/slide" Target="/ppt/slides/slide7.xml" Id="R09fdee9c8b7243ab" /><Relationship Type="http://schemas.openxmlformats.org/officeDocument/2006/relationships/slide" Target="/ppt/slides/slide8.xml" Id="R7cb261106c794143" /><Relationship Type="http://schemas.openxmlformats.org/officeDocument/2006/relationships/slide" Target="/ppt/slides/slide9.xml" Id="R140475eb207f4ee5" /><Relationship Type="http://schemas.openxmlformats.org/officeDocument/2006/relationships/slide" Target="/ppt/slides/slide10.xml" Id="Ree9a5d5c4c794e78" /><Relationship Type="http://schemas.openxmlformats.org/officeDocument/2006/relationships/slide" Target="/ppt/slides/slide11.xml" Id="R057aee63cfa94700" /><Relationship Type="http://schemas.openxmlformats.org/officeDocument/2006/relationships/slide" Target="/ppt/slides/slide12.xml" Id="R0c3576e58bf543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3783c584ccd41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65d67525ea41d5" /><Relationship Type="http://schemas.openxmlformats.org/officeDocument/2006/relationships/notesMaster" Target="/ppt/notesMasters/notesMaster1.xml" Id="R2990a05854ca49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9806d9905c4aec" /><Relationship Type="http://schemas.openxmlformats.org/officeDocument/2006/relationships/notesMaster" Target="/ppt/notesMasters/notesMaster1.xml" Id="Rf07cd4807b8b49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9433697bb3478c" /><Relationship Type="http://schemas.openxmlformats.org/officeDocument/2006/relationships/notesMaster" Target="/ppt/notesMasters/notesMaster1.xml" Id="Rf7899948278448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df9ceefc7b4300" /><Relationship Type="http://schemas.openxmlformats.org/officeDocument/2006/relationships/notesMaster" Target="/ppt/notesMasters/notesMaster1.xml" Id="R9c03b95062ff41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5ef85cbfa14221" /><Relationship Type="http://schemas.openxmlformats.org/officeDocument/2006/relationships/notesMaster" Target="/ppt/notesMasters/notesMaster1.xml" Id="Rdc8d194191274b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c476f2130f478f" /><Relationship Type="http://schemas.openxmlformats.org/officeDocument/2006/relationships/notesMaster" Target="/ppt/notesMasters/notesMaster1.xml" Id="Rb907762ae1d74f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a57ae68ca54e91" /><Relationship Type="http://schemas.openxmlformats.org/officeDocument/2006/relationships/notesMaster" Target="/ppt/notesMasters/notesMaster1.xml" Id="R7edde0bf28ec48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a708a1172e456f" /><Relationship Type="http://schemas.openxmlformats.org/officeDocument/2006/relationships/notesMaster" Target="/ppt/notesMasters/notesMaster1.xml" Id="R05fb7950063040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31751cca7304f74" /><Relationship Type="http://schemas.openxmlformats.org/officeDocument/2006/relationships/notesMaster" Target="/ppt/notesMasters/notesMaster1.xml" Id="R7a085cb5aa70454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f6b3ab1ee6147d4" /><Relationship Type="http://schemas.openxmlformats.org/officeDocument/2006/relationships/notesMaster" Target="/ppt/notesMasters/notesMaster1.xml" Id="R6f040d9b428b4bd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8cf286a4544ac7" /><Relationship Type="http://schemas.openxmlformats.org/officeDocument/2006/relationships/notesMaster" Target="/ppt/notesMasters/notesMaster1.xml" Id="R9c4aed03861446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44a286772048ad" /><Relationship Type="http://schemas.openxmlformats.org/officeDocument/2006/relationships/notesMaster" Target="/ppt/notesMasters/notesMaster1.xml" Id="Rd96afb9400d249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CityBrain is a bounded research software prototype. It combines a Chennai-area SUMO digital twin, the existing planning/execution path and a 3D visualization. It is not an emergency-response service. Attribution follows docs/krishna/CONTRIBUTION_MAP.md.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Contribution map: https://github.com/arghsahai/CityBrain/blob/feature/citybrain-v3-roadmap/docs/krishna/CONTRIBUTION_MAP.md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this is an engineering and research integration problem, not a novelty claim. Conditions in the study are simulated.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Implementation report: https://github.com/arghsahai/CityBrain/blob/feature/citybrain-v3-roadmap/docs/V31_IMPLEMENTATION_REPORT.md ; SUMO overview: https://sumo.dlr.de/docs/SUMO_at_a_Glance.html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read-back between SUMO and logical plan acceptance is an important boundary. Provider adapters and replay feed a separate evaluator, not planner scores or route execution. References: docs/V31_IMPLEMENTATION_REPORT.md; docs/FINAL_INTEGRATION.md.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Implementation report: https://github.com/arghsahai/CityBrain/blob/feature/citybrain-v3-roadmap/docs/V31_IMPLEMENTATION_REPORT.md ; integration: https://github.com/arghsahai/CityBrain/blob/feature/citybrain-v3-roadmap/docs/FINAL_INTEGRATION.md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reflects actual implementation and documented isolation. The traffic advisor is opt-in and display-only. Signal suggestions are also not applied physically.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Architecture and provider boundary: https://github.com/arghsahai/CityBrain/blob/feature/citybrain-v3-roadmap/docs/CHENNAI_LIVE_TRAFFIC.md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Fresh final-dashboard capture at 200 simulated seconds from the independently validated synthetic replay-assisted seed-17 output. Brand is RESEARCH PROTOTYPE. The recorded ambulance is active at this frame. At 704 s SUCCESS the dashboard explicitly reports no active current vehicle fix. No provider requests. Sources: docs/FINAL_PROJECT_STATUS.md and docs/final-qa-evidence/chennai-browser.json.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soft-change confirmation from hard route invalidation. The guard is not applied as an arbitrary delay to hard failures. The V3.1 study did not isolate the guard as a treatment.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Viva and guard behavior: https://github.com/arghsahai/CityBrain/blob/feature/citybrain-v3-roadmap/docs/V31_VIVA_QA.md ; implementation report: https://github.com/arghsahai/CityBrain/blob/feature/citybrain-v3-roadmap/docs/V31_IMPLEMENTATION_REPORT.md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Browser replay validation documented in V31_IMPLEMENTATION_REPORT.md. The fresh capture shows a REPLAY synthetic sample classified stale/expired. The project has no real signal controller.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CesiumJS entities: https://cesium.com/learn/cesiumjs-learn/cesiumjs-creating-entities/ ; demo script: https://github.com/arghsahai/CityBrain/blob/feature/citybrain-v3-roadmap/docs/V31_DEMO_SCRIPT.md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Study source is the preregistered V31_EXPERIMENT_PROTOCOL.md and v31-analysis.md. This is separate from fresh seed-17 smoke runs and from dashboard demos.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Protocol: https://github.com/arghsahai/CityBrain/blob/feature/citybrain-v3-roadmap/docs/V31_EXPERIMENT_PROTOCOL.md ; analysis: https://github.com/arghsahai/CityBrain/blob/feature/citybrain-v3-roadmap/data/output/v3-experiments/v31-matched-sumo-10seed-20261018/v31-analysis.md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Exact results from v31-analysis.md. S05 Wilson: static 39.7–89.2%, dynamic 72.2–100%; S06 0–27.8% both; S08 static 0–27.8%, dynamic 72.2–100%. In seven S05 matched successes, mean/median difference and bootstrap interval are zero. Do not claim universal superiority.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V3.1 matched SUMO analysis: https://github.com/arghsahai/CityBrain/blob/feature/citybrain-v3-roadmap/data/output/v3-experiments/v31-matched-sumo-10seed-20261018/v31-analysis.md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Adapter status and request safety are documented in CHENNAI_LIVE_TRAFFIC.md and V3.1 report. Do not imply actual live traffic integration is operational.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Provider boundary: https://github.com/arghsahai/CityBrain/blob/feature/citybrain-v3-roadmap/docs/CHENNAI_LIVE_TRAFFIC.md ; HERE API: https://docs.here.com/traffic-api/reference/traffic-api-v7-getflow ; TomTom API: https://docs.tomtom.com/traffic-api/documentation/tomtom-maps/v1/traffic-flow/flow-segment-data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limitation is supported by implementation documentation. Future work is proposed, not completed. Operational release would require independent oversight and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Limitations and validation: https://github.com/arghsahai/CityBrain/blob/feature/citybrain-v3-roadmap/docs/V31_IMPLEMENTATION_REPORT.md ; provider boundaries: https://github.com/arghsahai/CityBrain/blob/feature/citybrain-v3-roadmap/docs/CHENNAI_LIVE_TRAFFIC.md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distinguishing verified software paths from live operations. Historical integrity was validated at 2,172/2,172. Current package changes only documentation and deliverables; no research trials regenerated.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Implementation report: https://github.com/arghsahai/CityBrain/blob/feature/citybrain-v3-roadmap/docs/V31_IMPLEMENTATION_REPORT.md ; reproducible demo: https://github.com/arghsahai/CityBrain/blob/feature/citybrain-v3-roadmap/docs/V31_DEMO_SCRIPT.md</a:t>
            </a:r>
          </a:p>
          <a:p xmlns:a="http://schemas.openxmlformats.org/drawingml/2006/main">
            <a:br/>
            <a:r>
              <a:t>Demo B is separate saved synthetic S08 grid evidence, source revision f2fb49f0, not Chennai or a test of the Chennai guard. Verify with venv/bin/python tools/verify_saved_replan.py and use the extraction/viewer commands in FINAL_DEMO_CHECKLIST.md. Seek 301,311,316,425. Source: https://github.com/arghsahai/CityBrain/blob/feature/citybrain-v3-roadmap/docs/krishna/s08-3d-demo-evidence.tar.gz . Original generated input hashes are retained, but not recomputable from this compact archive.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1411be03da4d7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a699a1d5fc4f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b753268aa142e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4bffc5f7c7460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4e1873603c44f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7b386438ab44d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54DD120-87E7-41E4-941D-748A07645A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2C9599C-A99D-4302-9364-52FF5A7ED30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992B985-8F4C-4695-A577-237C8FD858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630961E-C117-4FCE-AA00-03C966F15F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484164F-C487-4702-BB42-590811F17B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E92A1D9-A761-4882-8630-9D7AFE65D2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2EA6142-8018-4E6F-AD8D-A481406653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F8B4E00-EE82-499D-9DD4-BE74FAA3DE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F13BFDC-67F4-4284-B420-E02EF97331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171EB42-A166-443A-8C45-B4C1E3CFAA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79d8fe99154ef2" /><Relationship Type="http://schemas.openxmlformats.org/officeDocument/2006/relationships/slideLayout" Target="/ppt/slideLayouts/slideLayout1.xml" Id="Re5bfddf0be0a4e27" /><Relationship Type="http://schemas.openxmlformats.org/officeDocument/2006/relationships/slideLayout" Target="/ppt/slideLayouts/slideLayout2.xml" Id="R09893a9c00154f7b" /><Relationship Type="http://schemas.openxmlformats.org/officeDocument/2006/relationships/slideLayout" Target="/ppt/slideLayouts/slideLayout3.xml" Id="R4a0652d3484544b8" /><Relationship Type="http://schemas.openxmlformats.org/officeDocument/2006/relationships/slideLayout" Target="/ppt/slideLayouts/slideLayout4.xml" Id="R7204c4a4a81f440c" /><Relationship Type="http://schemas.openxmlformats.org/officeDocument/2006/relationships/slideLayout" Target="/ppt/slideLayouts/slideLayout5.xml" Id="Rd599bfb4b2f44792" /><Relationship Type="http://schemas.openxmlformats.org/officeDocument/2006/relationships/slideLayout" Target="/ppt/slideLayouts/slideLayout6.xml" Id="Rff6a0394e4e94b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bfddf0be0a4e27"/>
    <p:sldLayoutId xmlns:r="http://schemas.openxmlformats.org/officeDocument/2006/relationships" id="2147483650" r:id="R09893a9c00154f7b"/>
    <p:sldLayoutId xmlns:r="http://schemas.openxmlformats.org/officeDocument/2006/relationships" id="2147483651" r:id="R4a0652d3484544b8"/>
    <p:sldLayoutId xmlns:r="http://schemas.openxmlformats.org/officeDocument/2006/relationships" id="2147483652" r:id="R7204c4a4a81f440c"/>
    <p:sldLayoutId xmlns:r="http://schemas.openxmlformats.org/officeDocument/2006/relationships" id="2147483653" r:id="Rd599bfb4b2f44792"/>
    <p:sldLayoutId xmlns:r="http://schemas.openxmlformats.org/officeDocument/2006/relationships" id="2147483654" r:id="Rff6a0394e4e94b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5340132ed44c79" /><Relationship Type="http://schemas.openxmlformats.org/officeDocument/2006/relationships/notesSlide" Target="/ppt/notesSlides/notesSlide1.xml" Id="Rcdfd2fd39eaa49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51901c5ba74dd3" /><Relationship Type="http://schemas.openxmlformats.org/officeDocument/2006/relationships/notesSlide" Target="/ppt/notesSlides/notesSlide2.xml" Id="Ra01e314013ee48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6a33a24daa476e" /><Relationship Type="http://schemas.openxmlformats.org/officeDocument/2006/relationships/notesSlide" Target="/ppt/notesSlides/notesSlide3.xml" Id="R11607abfb37e46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22684dee244962" /><Relationship Type="http://schemas.openxmlformats.org/officeDocument/2006/relationships/notesSlide" Target="/ppt/notesSlides/notesSlide4.xml" Id="Rd6e8926bf3654f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0ef16fd4564aae" /><Relationship Type="http://schemas.openxmlformats.org/officeDocument/2006/relationships/image" Target="/ppt/media/image.png" Id="R8281a460ea844024" /><Relationship Type="http://schemas.openxmlformats.org/officeDocument/2006/relationships/notesSlide" Target="/ppt/notesSlides/notesSlide5.xml" Id="Re6c66d79c61d49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10d76debfd4db5" /><Relationship Type="http://schemas.openxmlformats.org/officeDocument/2006/relationships/notesSlide" Target="/ppt/notesSlides/notesSlide6.xml" Id="Rbeb003712ab045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68d338c8f14354" /><Relationship Type="http://schemas.openxmlformats.org/officeDocument/2006/relationships/notesSlide" Target="/ppt/notesSlides/notesSlide7.xml" Id="Reffcfbd0b06a46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825d235439401c" /><Relationship Type="http://schemas.openxmlformats.org/officeDocument/2006/relationships/notesSlide" Target="/ppt/notesSlides/notesSlide8.xml" Id="R9340a77069ef4c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2dfc522bff4fdf" /><Relationship Type="http://schemas.openxmlformats.org/officeDocument/2006/relationships/notesSlide" Target="/ppt/notesSlides/notesSlide9.xml" Id="Rd07583ce05a841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2d786600de4272" /><Relationship Type="http://schemas.openxmlformats.org/officeDocument/2006/relationships/notesSlide" Target="/ppt/notesSlides/notesSlide10.xml" Id="R79957c0014a64ef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2e658fcaaa4d10" /><Relationship Type="http://schemas.openxmlformats.org/officeDocument/2006/relationships/notesSlide" Target="/ppt/notesSlides/notesSlide11.xml" Id="R4d9fb65ec5404d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d0022545394034" /><Relationship Type="http://schemas.openxmlformats.org/officeDocument/2006/relationships/notesSlide" Target="/ppt/notesSlides/notesSlide12.xml" Id="R31bb083b17de48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4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7E9E9-25BD-4778-B6F6-0925160B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C5FE21-6098-4860-8CB9-E44C616A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239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CITYBRAIN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6F062-260D-4ACC-9224-D52DBAD8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325" b="1">
                <a:solidFill>
                  <a:srgbClr val="55D6C2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325" b="1">
                <a:solidFill>
                  <a:srgbClr val="55D6C2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55D6C2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55D6C2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55D6C2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55D6C2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55D6C2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55D6C2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55D6C2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55D6C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55D6C2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55D6C2"/>
                </a:solidFill>
                <a:latin typeface="Arial"/>
                <a:ea typeface="Arial"/>
                <a:cs typeface="Arial"/>
              </a:rPr>
              <a:t>AI-Based Emergency Response Coordination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7F961-F09C-445E-AFC6-AA233F0C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CE8F0"/>
                </a:solidFill>
                <a:latin typeface="Arial"/>
                <a:ea typeface="Arial"/>
                <a:cs typeface="Arial"/>
              </a:rPr>
              <a:t>Chennai SUMO Digital Twin and 3D Visualization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799E3-41C7-4AC6-AE10-B7AA104B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3810000" cy="28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D2E016-32D0-423C-B167-C0930AD0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8142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DCE8F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CE8F0"/>
                </a:solidFill>
                <a:latin typeface="Arial"/>
                <a:ea typeface="Arial"/>
                <a:cs typeface="Arial"/>
              </a:rPr>
              <a:t>Final academic project report  ·  V3.2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3CF5FC-5868-49ED-A201-ACA1B48E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Krishna Verma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7565CC-5CA4-4EDA-8FDF-C46E7284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952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8CFDF"/>
                </a:solidFill>
                <a:latin typeface="Arial"/>
                <a:ea typeface="Arial"/>
                <a:cs typeface="Arial"/>
              </a:rPr>
              <a:t>Project contributions: Argh Sahai (original Core/SUMO foundation)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8CFDF"/>
                </a:solidFill>
                <a:latin typeface="Arial"/>
                <a:ea typeface="Arial"/>
                <a:cs typeface="Arial"/>
              </a:rPr>
              <a:t>Subhashini (agents and planner)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7DD632-DCC5-4B55-9416-683C8EEA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626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8CFD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CFDF"/>
                </a:solidFill>
                <a:latin typeface="Arial"/>
                <a:ea typeface="Arial"/>
                <a:cs typeface="Arial"/>
              </a:rPr>
              <a:t>18 October 2026   ·   Research software prototype</a:t>
            </a:r>
          </a:p>
        </p:txBody>
      </p:sp>
    </p:spTree>
    <p:extLst>
      <p:ext uri="{BB962C8B-B14F-4D97-AF65-F5344CB8AC3E}">
        <p14:creationId xmlns:p14="http://schemas.microsoft.com/office/powerpoint/2010/main" val="474506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AA133C-0A52-4148-8398-49F8DCC8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The problem: routes meet changing 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C52CC6-4C6D-409A-AB92-44C1C013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Research question: how should a simulated response system observe, reassess and verify a route?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401AA-9B39-42A9-B3F0-A634D11D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4A6DD-A4CB-4477-AF94-DFA961D7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CITYBRAIN  ·  RESEARCH PROTOTYPE  ·  NOT FOR EMERGENCY DISPATCH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6001E-F0A8-47CC-9A8C-E5963CE6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32385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5F8FA"/>
          </a:solidFill>
          <a:ln xmlns:a="http://schemas.openxmlformats.org/drawingml/2006/main" w="14288">
            <a:solidFill>
              <a:srgbClr val="D5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E48D1-D22F-49C5-9D85-5713A225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76450"/>
            <a:ext cx="2895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A route can become unsuitable after dispatch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(blocked edge or cost change)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7CEFE5-A642-49A6-A97F-D7B751A8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409825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74905-B460-4E33-AADA-7C2DA448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43100"/>
            <a:ext cx="32385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5F8FA"/>
          </a:solidFill>
          <a:ln xmlns:a="http://schemas.openxmlformats.org/drawingml/2006/main" w="14288">
            <a:solidFill>
              <a:srgbClr val="D5E0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F6DAF6-0879-4975-9F9A-B99A9E05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076450"/>
            <a:ext cx="2895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Reacting to every short-lived change can create route churn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B9F01-F0EE-46D9-8550-C11AE106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09825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AE334-77EF-4264-B6DD-E18D0B31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943100"/>
            <a:ext cx="268605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4AAFAF-FDF9-4B34-B459-E89A9690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76450"/>
            <a:ext cx="23431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Need an auditable loop: observe → decide → execute → read 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EAD877-7555-4684-982D-00B6E6A6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This project evaluates an integrated software workflow in SUMO. It does not establish research novelty or real-world emergency benefit.</a:t>
            </a:r>
          </a:p>
        </p:txBody>
      </p:sp>
    </p:spTree>
    <p:extLst>
      <p:ext uri="{BB962C8B-B14F-4D97-AF65-F5344CB8AC3E}">
        <p14:creationId xmlns:p14="http://schemas.microsoft.com/office/powerpoint/2010/main" val="963112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BA5B94-1C6C-47A4-9993-9BB33409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Proposed solution: a verified simulation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860997-F906-44A6-A530-95E9E464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One control path; a separate advisory visualization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737D41-0020-4290-A870-E199313B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FB760C-A5BB-4676-8443-D3C71E0E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CITYBRAIN  ·  RESEARCH PROTOTYPE  ·  NOT FOR EMERGENCY DISPATCH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C3AF07-7581-4111-AC2C-BE10E31A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90750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257129-164D-425B-90B8-7944E70F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14668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SUMO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simulated city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02ECE-C2C1-4CBB-A292-C80F5C63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552700"/>
            <a:ext cx="419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0A3A8D-3301-4891-8AF3-015EE8F5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1750D-74FB-419D-8A42-A8FA1C23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24100"/>
            <a:ext cx="14668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CityBrain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state + agents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D0B5C7-2E32-44E3-917E-702404DB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552700"/>
            <a:ext cx="419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80A27-B9A7-4FFF-A14D-4C9575F3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190750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576CBC-78C3-4C6A-8601-5D0D8C23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324100"/>
            <a:ext cx="14668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Planner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validate plan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CDECC8-A600-4308-AE50-F2CDAA44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52700"/>
            <a:ext cx="419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0A328C-4E2B-4311-8F6B-B2107827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190750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4B61E0-FD87-45C5-97EC-275275F7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24100"/>
            <a:ext cx="14668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Executor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apply to SUMO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36F114-7988-4C0E-B503-DCE38112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552700"/>
            <a:ext cx="419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8B3D6A-E6EF-4AC8-9B24-909B8B82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190750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5F1"/>
          </a:solidFill>
          <a:ln xmlns:a="http://schemas.openxmlformats.org/drawingml/2006/main" w="14288">
            <a:solidFill>
              <a:srgbClr val="1683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C8AA5D-86CB-40FC-9FBC-8E5C7573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24100"/>
            <a:ext cx="14668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Read-back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accept only if verified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383B24-8CED-4B07-A819-11B7FBE3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3524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A"/>
          </a:solidFill>
          <a:ln xmlns:a="http://schemas.openxmlformats.org/drawingml/2006/main" w="14288">
            <a:solidFill>
              <a:srgbClr val="D5E0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23A0F0-A64C-418D-BA25-C5B08C4D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38650"/>
            <a:ext cx="3181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Cesium / SVG dashboard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A58DD1-E60B-4501-B30B-88E41FA0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05300"/>
            <a:ext cx="6191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14288">
            <a:solidFill>
              <a:srgbClr val="E3C57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51BAC8-B387-421B-9A8B-F653451D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438650"/>
            <a:ext cx="5848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Traffic adapters + offline replay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Advisory only · no planner cost write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4DEA94-C760-4B71-B99F-B9355E2E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245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SUMO remains the simulated physical truth. The dashboard observes; route execution stays on the existing verified path.</a:t>
            </a:r>
          </a:p>
        </p:txBody>
      </p:sp>
    </p:spTree>
    <p:extLst>
      <p:ext uri="{BB962C8B-B14F-4D97-AF65-F5344CB8AC3E}">
        <p14:creationId xmlns:p14="http://schemas.microsoft.com/office/powerpoint/2010/main" val="21341506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DB9133-1CC6-4931-A6A1-773E7691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System architecture and data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6E585-0974-4996-9D32-3E730631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Control, telemetry and external traffic remain visibly separate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93A2C5-7698-47A3-BF64-33C2C8FB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8ADA3-A58A-4582-B45C-1FEB8427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CITYBRAIN  ·  RESEARCH PROTOTYPE  ·  NOT FOR EMERGENCY DISPATCH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79AB86-8CF3-4C18-8D30-A084A59C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762125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93395E-42B2-46A9-A519-74DBDDB3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14192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OSM-derived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Chennai network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DFCBAE-BBEB-4E6C-853C-67BC04A9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400300"/>
            <a:ext cx="34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94202F-730F-4C63-A538-FB3E5ACB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76450"/>
            <a:ext cx="1762125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C7D3DA-2ABB-4440-B03A-07E5A141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09800"/>
            <a:ext cx="14192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SUMO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vehicles + signals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7B5DA3-7518-4430-8D79-74D33882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00300"/>
            <a:ext cx="34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4A735-8364-4D96-907A-60FEFF69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76450"/>
            <a:ext cx="1762125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FDEDDE-2CDA-4BBB-8097-083B4119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09800"/>
            <a:ext cx="14192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TraCI →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CityState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DE3DCA-3EF9-4BF4-926D-E8767DE0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34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94FE60-38E8-4DEF-B059-1BBEB6DE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76450"/>
            <a:ext cx="1762125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9FCBE5-D9B9-477E-8BDB-F4CFD152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09800"/>
            <a:ext cx="14192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Agents +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existing planner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38A68D-20EE-48D4-A443-5FD921DF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00300"/>
            <a:ext cx="342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7AEEB9-838E-4608-8F24-1F2400BB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76450"/>
            <a:ext cx="1762125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0C2908-EAA8-4080-B278-5B776C90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209800"/>
            <a:ext cx="14192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Verified route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executor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2C6984-2CFD-4DC0-A0AD-0F2697D6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114800"/>
            <a:ext cx="4000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14288">
            <a:solidFill>
              <a:srgbClr val="D7B86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72284B-423F-4578-9321-486C10D1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248150"/>
            <a:ext cx="36576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Provider adapters + replay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normalize · freshness · directed road match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1E17CE-1532-4C0E-ACA1-55C99C32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114800"/>
            <a:ext cx="3238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5F8FA"/>
          </a:solidFill>
          <a:ln xmlns:a="http://schemas.openxmlformats.org/drawingml/2006/main" w="14288">
            <a:solidFill>
              <a:srgbClr val="D5E0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36478E-AAE7-436C-968F-6F86A6FA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248150"/>
            <a:ext cx="28956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Opt-in evaluator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DISPLAY-ONLY suggestion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1A0F49-F825-4C10-A015-21757274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3816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ctr">
              <a:defRPr sz="150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A56A00"/>
                </a:solidFill>
                <a:latin typeface="Arial"/>
                <a:ea typeface="Arial"/>
                <a:cs typeface="Arial"/>
              </a:rPr>
              <a:t>No provider observation directly changes planner cost or triggers ambulance replanning.</a:t>
            </a:r>
          </a:p>
        </p:txBody>
      </p:sp>
    </p:spTree>
    <p:extLst>
      <p:ext uri="{BB962C8B-B14F-4D97-AF65-F5344CB8AC3E}">
        <p14:creationId xmlns:p14="http://schemas.microsoft.com/office/powerpoint/2010/main" val="16841692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1BF7D4-19A9-4B8E-8E1B-13E60BD6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Chennai digital twin: real geometry, simulated response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0ED07-A0F4-48D7-A4BB-0C9F87EB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Fresh current-dashboard replay capture at 200 simulated seconds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B33DD2-F277-4213-AE3C-D0824BCA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AD0E6-6397-41AC-BC5A-621D5E75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CITYBRAIN  ·  RESEARCH PROTOTYPE  ·  NOT FOR EMERGENCY DISPATCH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4919F-D82D-46EB-8B04-2F66991467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81a460ea84402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78527" y="1495425"/>
            <a:ext cx="6234545" cy="4286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644068-EBCC-4D3F-B436-1846B434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09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AAA718-D399-4257-8BC3-FD8C3772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33550"/>
            <a:ext cx="2590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OSM-derived roads; bounded study area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97D2E1-48B4-4889-8BB0-8A3EAEE1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52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D0457F-14A8-4DD8-90FF-0CEC9135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76500"/>
            <a:ext cx="2590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SUMO vehicles, congestion, incidents and signals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D438C-FCDC-449A-8977-44AA6A7C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95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989B13-D301-49FE-AC67-EA2DF0D2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19450"/>
            <a:ext cx="2590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Configured hospital access-road success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B3C8AD-9479-41B8-8523-C864A30C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38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841B2E-2503-460B-9D7B-3557AD85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962400"/>
            <a:ext cx="2590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Replay status: REPLAY / SYNTHETIC_SAMPLE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A73203-2ED1-483E-857E-DEAE37C9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057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Recorded SUMO ambulance and synthetic replay overlay. No live traffic-provider response is represented.</a:t>
            </a:r>
          </a:p>
        </p:txBody>
      </p:sp>
    </p:spTree>
    <p:extLst>
      <p:ext uri="{BB962C8B-B14F-4D97-AF65-F5344CB8AC3E}">
        <p14:creationId xmlns:p14="http://schemas.microsoft.com/office/powerpoint/2010/main" val="9154174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2A83C4-761A-4622-9963-604F134C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Agents and replanning: stability without delaying hard failures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5168E-A3C4-4DCC-95D4-76DA176E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The existing planner and execution path are preserved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62B5D-C125-4C35-A96F-47AAB8EC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E0D3B2-23A7-48FD-AC0B-CE2BC37F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CITYBRAIN  ·  RESEARCH PROTOTYPE  ·  NOT FOR EMERGENCY DISPATCH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44A4E3-9C5D-4300-9C51-1B0DB3C9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8669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FCD0F-D86E-4DBF-BCC9-39A3127C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Traffic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198F3-921F-4779-8DAA-46DF11FC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657350"/>
            <a:ext cx="18669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3D0C7-67A7-4C8F-9EF8-FF3BDE0A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7907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Ambulance 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44CCD5-2E44-487D-8915-5BCED69D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57350"/>
            <a:ext cx="18669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92BC62-1276-4CEF-9E60-FA6AEC6C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7907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Hospital agent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4F326-2282-4D68-A075-660AAED3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57350"/>
            <a:ext cx="18669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59D55-F780-4AD7-8E64-DD1BB4D8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907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Police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90886A-8A92-47B3-BBB6-22419C97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657350"/>
            <a:ext cx="18669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7645D3-9A90-4DA0-B56C-DEADA8AB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907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Signal 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A026CC-EABA-4481-B005-AF275D8D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336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ctr"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Assessments feed planning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9E84DB-57F5-414F-941C-0488368D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3238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AF6F2"/>
          </a:solidFill>
          <a:ln xmlns:a="http://schemas.openxmlformats.org/drawingml/2006/main" w="14288">
            <a:solidFill>
              <a:srgbClr val="1683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B29FED-7883-4F56-A50A-0D988D79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95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KEEP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Retain verified 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019B53-4BCB-49CA-9EF3-E39B34F8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52800"/>
            <a:ext cx="3238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4119BD-5299-48A1-B760-F44A8D83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486150"/>
            <a:ext cx="2895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REPLAN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Validate → execute → read back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79D0CE-AA61-45D9-B922-55B842BF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52800"/>
            <a:ext cx="3238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AEEEE"/>
          </a:solidFill>
          <a:ln xmlns:a="http://schemas.openxmlformats.org/drawingml/2006/main" w="14288">
            <a:solidFill>
              <a:srgbClr val="D6A7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2B966-2909-4F9D-94FA-6161FD3E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86150"/>
            <a:ext cx="2895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NO_ROUTE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Handle genuine planning failure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AB7A-3473-48BC-BD15-62761B19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530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Soft cost changes: 20-second Chennai confirmation guard     |     Hard invalidation: existing immediate handling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CE8618-1EB3-4E03-B9C9-F86347FB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1043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96B7D"/>
                </a:solidFill>
                <a:latin typeface="Arial"/>
                <a:ea typeface="Arial"/>
                <a:cs typeface="Arial"/>
              </a:rPr>
              <a:t>Separate saved S08 grid demo: P0 → P1 → P2 at 301 / 311 / 316 s.</a:t>
            </a:r>
          </a:p>
          <a:p xmlns:a="http://schemas.openxmlformats.org/drawingml/2006/main">
            <a:pPr algn="ctr">
              <a:defRPr sz="1275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96B7D"/>
                </a:solidFill>
                <a:latin typeface="Arial"/>
                <a:ea typeface="Arial"/>
                <a:cs typeface="Arial"/>
              </a:rPr>
              <a:t>Chennai seed 17 has zero changes; the saved grid demo does not test its 20-second guard.</a:t>
            </a:r>
          </a:p>
        </p:txBody>
      </p:sp>
    </p:spTree>
    <p:extLst>
      <p:ext uri="{BB962C8B-B14F-4D97-AF65-F5344CB8AC3E}">
        <p14:creationId xmlns:p14="http://schemas.microsoft.com/office/powerpoint/2010/main" val="8824785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F1229F-DA9E-4798-8D34-E8B2546C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Dashboard: inspection, provenance and fallback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F87E0E-766B-48BA-82BF-FC1FD4A5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Human-readable state is part of the evidence trail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FECF74-B1C7-475A-BD76-F2359066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660FF-AAEC-4879-878F-D458D8F7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CITYBRAIN  ·  RESEARCH PROTOTYPE  ·  NOT FOR EMERGENCY DISPATCH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C3A5F-11B0-4EBC-94F6-EC034965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2476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ECAE3-538F-4EC7-A83A-CD7D0C9A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8120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Map &amp; motion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A61FB-0B9C-44A3-ADAE-9570AD0D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21336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OSM road geometry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SUMO vehicles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Ambulance and accepted route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142595-CA7E-436C-BA18-82B71A47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33550"/>
            <a:ext cx="2476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4D45D-4AF1-4D2F-A46B-B3DDF98C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8120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01A6EA-E62C-4D48-B30C-C895C971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90800"/>
            <a:ext cx="21336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Simulated signals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Incident + hospital markers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Route decision and execution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FB06F-7807-4406-9F5C-764C1547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33550"/>
            <a:ext cx="2476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7B8D3E-7541-4F44-B911-E0805051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8120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Provenance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BD813B-19B0-4AAD-B0DE-0B523BF5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90800"/>
            <a:ext cx="21336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LIVE / REPLAY / SYNTHETIC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UNKNOWN / STALE / EXPIRED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Road match and direction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02CB66-6ABD-453C-B557-B50BB5666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33550"/>
            <a:ext cx="2476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A0FF20-83ED-4602-A298-B2FECD3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98120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0CF483-A4F5-40AA-B22C-14620470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90800"/>
            <a:ext cx="21336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Cesium 3D when available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2D / SVG alternative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Telemetry failure isolation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206898-8077-4D85-975D-FBD3A001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24450"/>
            <a:ext cx="1007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Traffic signals, capacity and traffic conditions are simulated. Signal-priority suggestions are advisory and never physically applied.</a:t>
            </a:r>
          </a:p>
        </p:txBody>
      </p:sp>
    </p:spTree>
    <p:extLst>
      <p:ext uri="{BB962C8B-B14F-4D97-AF65-F5344CB8AC3E}">
        <p14:creationId xmlns:p14="http://schemas.microsoft.com/office/powerpoint/2010/main" val="6645246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FB8F5E-33D2-4CE8-9B64-D64D3D78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Experimental design: 60 synthetic SUMO trials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9E97A-5E01-42C1-A8B4-EA7E955F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Three scenarios × ten matched seeds × two arms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A86B5-3CBB-4530-BCF3-1AEA40D4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2C73F1-33C3-413E-A489-FE26E64A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CITYBRAIN  ·  RESEARCH PROTOTYPE  ·  NOT FOR EMERGENCY DISPATCH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08A65-894A-4729-8BF5-425A80A2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62125"/>
            <a:ext cx="2667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9E3E0-5E8A-4D10-AC2D-59452F28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95475"/>
            <a:ext cx="2324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S05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static × dynamic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5341AD-B233-45ED-8545-90E0B1E5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31908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ctr"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10 paired seeds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14AD16-7373-444B-A50D-68B5C3A1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762125"/>
            <a:ext cx="2667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A489D9-4587-41F9-AF92-BB8B098C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895475"/>
            <a:ext cx="2324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S06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static × dynamic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FC4E8C-CFE6-47E1-AA02-26DA3F46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1908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ctr"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10 paired seeds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75674-9839-4206-80E9-74D31206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62125"/>
            <a:ext cx="2667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173768-6749-46C4-8E6C-4476F0DF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95475"/>
            <a:ext cx="2324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S08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static × dynamic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77EF4C-FFEA-49D5-A0B8-A2DBF746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1908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ctr"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10 paired seeds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19D578-9EB2-48F8-8620-96C987BA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038600"/>
            <a:ext cx="85725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5F8FA"/>
          </a:solidFill>
          <a:ln xmlns:a="http://schemas.openxmlformats.org/drawingml/2006/main" w="14288">
            <a:solidFill>
              <a:srgbClr val="D5E0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7FC917-49CB-4EB3-9A35-DE7D32EE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171950"/>
            <a:ext cx="822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NORMAL profile · fixed synthetic inputs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60 total trial cells · no provider / GPS / signal actuation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AEC57A-F91C-4358-8058-97DFE08C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ctr"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All outcomes remain in completion denominators. TELEPORTED = failure. Successful-time summaries condition on SUCCESS; matched differences require success in both arms.</a:t>
            </a:r>
          </a:p>
        </p:txBody>
      </p:sp>
    </p:spTree>
    <p:extLst>
      <p:ext uri="{BB962C8B-B14F-4D97-AF65-F5344CB8AC3E}">
        <p14:creationId xmlns:p14="http://schemas.microsoft.com/office/powerpoint/2010/main" val="408184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61FAE5-9688-4AC1-922C-D9CA6CE6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Results: scenario-specific completion, no broad superiority claim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CFE994-500C-4325-861C-4B2CCA2C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Observed successes out of ten runs; teleports count as failures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B79B60-D5FC-49A0-A9CD-7E2B8B12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94E6B-E72B-4C85-8DDE-D7E18917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CITYBRAIN  ·  RESEARCH PROTOTYPE  ·  NOT FOR EMERGENCY DISPATCH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BA32E-828F-4B7C-BAF3-1DC150343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62100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AC858E-0224-4335-8B9A-7357ACF3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3830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A9AAEC-622B-4C41-B013-FFEB7B81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5621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4A943-B055-4791-93EA-14CD5788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638300"/>
            <a:ext cx="1466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1C0293-F041-4A35-959E-3C4F7B93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621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A5769F-75AD-4ED7-960B-075345D4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3830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Dynamic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05E16B-3B76-4563-9C6F-C75F5684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5621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C52522-7742-4656-8A5C-48E3B199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3830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Failures (S / D)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F7FFF9-642A-4D7B-8F7C-1967D9C5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621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78AF93-19E5-4891-AB7B-7EBAEBF0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638300"/>
            <a:ext cx="2514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Matched time result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96F191-8482-4F62-8E41-9AF64DED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1454DB-F295-4BD6-A664-579796A4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7170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088E7D-33B1-49B1-A68F-DF699114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0955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D38763-3BB3-435E-B465-5CEDEFB1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171700"/>
            <a:ext cx="1466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7/10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A5EECC-DD3D-40BF-8D7B-588E8911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955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403764-7BD8-46AE-BD61-009FA6F6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17170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10/10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7FD959-4F53-483D-A9FF-51A7C7C8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0955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56CBD-918A-4DB5-B8A0-FBD53893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17170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3 / 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CA79C7-D6D3-4B08-9C1F-32EDFB40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0955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CFA1DD-A4B3-4B92-91DF-4DFE56E5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71700"/>
            <a:ext cx="2514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7 pairs: 0 s mean delta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C68770-EC48-4E3F-8F3C-3F2CA372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8507B3-BD3E-4C5C-A31C-6F4CC2A3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0510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F227B4-5BDE-4F56-A930-B1A067C3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6289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7C7B2F-5F89-4771-AB40-5160178E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705100"/>
            <a:ext cx="1466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0/10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38B48E-A3FB-4417-B755-64FEB29E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6289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28929F-3037-4CCD-9229-FE1559BE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0510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0/10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352B6D-1217-4D16-B09C-E8512285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6289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CEA544-E58B-4971-AC83-6D3A455F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70510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10 / 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3C5B7A-1CF3-4A78-BC94-C582C6BE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289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E05B55-7886-40BE-B116-CB2FC3C6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05100"/>
            <a:ext cx="2514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No matched successes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B287B2-640B-4680-BB1C-E943B3A2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49B330-35E6-4649-847F-48C5F97C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53F42E-71F9-48E6-B852-8C0CF2C3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1623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DE1882-1A33-4A20-B394-9CE2C67A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238500"/>
            <a:ext cx="1466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0/10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827A4FF-4D0E-4169-85A5-4A86F4C7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623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347069-EECD-4C40-8E73-DF5EEA6E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3850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10/10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4C118D6-5034-4C8A-81CB-ADF55DCB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623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AFA432-8949-4C86-AC58-E1DE091C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3850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10 / 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1A234A5-9196-4C66-B421-F55CD5B9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623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F08A8B-816C-477B-84F2-8CA48EDF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2514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No matched successes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0C48501-A502-45B2-B78A-3F2B3116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57625"/>
            <a:ext cx="1019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S05 response time: 35.0 s static (n=7), 35.0 s dynamic (n=10). S08 dynamic: 124.5 s (n=10).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1CAF622-E46A-4E27-ABA5-D27CB95B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91025"/>
            <a:ext cx="1019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95% Wilson intervals are wide at n=10. No successful paired comparison exists for S06 or S08.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A743FE8-BFE7-42D4-99FF-A7551BF9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124450"/>
            <a:ext cx="9620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14288">
            <a:solidFill>
              <a:srgbClr val="D7B865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844B04-A1B5-4331-855F-B6B1914B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257800"/>
            <a:ext cx="9277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Result: mixed, scenario-dependent outcomes from a small synthetic study. No real-world performance inference.</a:t>
            </a:r>
          </a:p>
        </p:txBody>
      </p:sp>
    </p:spTree>
    <p:extLst>
      <p:ext uri="{BB962C8B-B14F-4D97-AF65-F5344CB8AC3E}">
        <p14:creationId xmlns:p14="http://schemas.microsoft.com/office/powerpoint/2010/main" val="5365172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70C58D-BE9D-4B75-931C-A6D5FB04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Traffic integration status: adapters are not live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1EAFEC-501D-44B7-B385-13395C86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No genuine provider response is evidenced in this release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0FBFD-356A-4830-B126-0192D6B5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582B7F-37E9-445F-9092-141B6B31D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CITYBRAIN  ·  RESEARCH PROTOTYPE  ·  NOT FOR EMERGENCY DISPATCH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566525-93F4-40EB-8222-72E38EB1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04950"/>
            <a:ext cx="2524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HERE adapter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1042B2-716E-41C1-8CA4-8A33CBDA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476375"/>
            <a:ext cx="1905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D5E0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72086-225D-49B0-884F-E386F44F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60972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Implemented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2CA872-A227-4D05-B745-0173AD92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049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Live coverage / accuracy unverified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37F6F2-3891-474F-887C-2C877AE7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95525"/>
            <a:ext cx="2524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TomTom adapter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BE345-E8FD-4106-893A-7B971F9F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66950"/>
            <a:ext cx="1905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D5E0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7334FE-7E12-44F0-A4C4-514D10A2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0030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Implemented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57FD4E-8578-41B0-9F52-BC24C4F3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95525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Live coverage / accuracy unverified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8F974B-B6CF-49A6-9A38-164262EC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2524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Offline replay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1A40D6-2D07-4269-A441-D3C25044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57525"/>
            <a:ext cx="1905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D5E0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31417C-BFD0-4142-90C3-1CE7B371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908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Implemented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7CCF3A-89CC-4BCB-84CF-BBFF9E90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8610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Synthetic sample; visibly labeled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A1A48A-D099-43E5-93D4-B7813EC8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76675"/>
            <a:ext cx="2524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External evaluator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35E2B9-1934-4327-9216-FE1B9303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848100"/>
            <a:ext cx="1905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14288">
            <a:solidFill>
              <a:srgbClr val="D7B86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089B14-6A24-47BF-9A5C-BE865356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9814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Opt-in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0E34AB-72D9-487C-A5B9-265BAF7F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76675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Display-only; no planner or route control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23162D-1CB2-4A34-94FE-4DB248F6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2524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Browser GPS marker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F87CC6-2C9C-419A-9172-F7826A95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638675"/>
            <a:ext cx="1905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D5E0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DF7304-96F5-4A65-AFE5-50D16EF6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77202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Consent-only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CCF971-16C8-457A-A816-C2DF60D8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672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Tab-local; not runtime routing input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BDDE81-B1DE-444E-822A-F784B86F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959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ctr">
              <a:defRPr sz="135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5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35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35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35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35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35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35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35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35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A56A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56A00"/>
                </a:solidFill>
                <a:latin typeface="Arial"/>
                <a:ea typeface="Arial"/>
                <a:cs typeface="Arial"/>
              </a:rPr>
              <a:t>Provider requests require explicit authorization; no HERE/TomTom API was called for this package.</a:t>
            </a:r>
          </a:p>
        </p:txBody>
      </p:sp>
    </p:spTree>
    <p:extLst>
      <p:ext uri="{BB962C8B-B14F-4D97-AF65-F5344CB8AC3E}">
        <p14:creationId xmlns:p14="http://schemas.microsoft.com/office/powerpoint/2010/main" val="19040816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9CFC28-68B1-4BB4-A035-130ACB02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Limitations and responsible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E23AD-F263-4C71-B7A8-C056F920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Prototype evidence does not establish field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050147-7FB0-4811-A434-92DF3BBB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4AEB59-D873-429E-8C0A-4CDF3525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CITYBRAIN  ·  RESEARCH PROTOTYPE  ·  NOT FOR EMERGENCY DISPATCH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E60FCB-599E-4710-A28F-C9DFE131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4B412-CC7D-4BD9-BA90-C189C510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04950"/>
            <a:ext cx="1013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No live-provider response, corridor coverage or cost verification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F8261-A458-4319-8DE0-A4DBD96D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F8CFAA-11EB-4CB3-9B62-8F2B2772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71700"/>
            <a:ext cx="1013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Simulated demand, incidents, signal programs and hospital availability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9E822D-1EE1-47CA-9E07-A2B782E4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0ACF7C-D98E-4CF2-A16F-ED41825F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38450"/>
            <a:ext cx="1013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Hospital arrival means configured simulated access-road arrival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9C727-BC68-4DC1-A107-7D575717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798D80-836C-4666-B498-EB284579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05200"/>
            <a:ext cx="1013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No signal movement / clearance contract or physical actuation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B715D4-1065-4D06-96DE-3BB2E521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4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51C9AC-02A2-4A98-AEEA-07F8DDE0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013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2A3E"/>
                </a:solidFill>
                <a:latin typeface="Arial"/>
                <a:ea typeface="Arial"/>
                <a:cs typeface="Arial"/>
              </a:rPr>
              <a:t>No real-world calibration, clinical validation or deployment safety case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58E48E-A255-44CA-8B62-202E0088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10096500" cy="19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5E0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F4B811-4F8E-467C-BE51-24443696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244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ctr"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Next: literature review · calibration · cost-authorized provider study · safety and human-factors validation</a:t>
            </a:r>
          </a:p>
        </p:txBody>
      </p:sp>
    </p:spTree>
    <p:extLst>
      <p:ext uri="{BB962C8B-B14F-4D97-AF65-F5344CB8AC3E}">
        <p14:creationId xmlns:p14="http://schemas.microsoft.com/office/powerpoint/2010/main" val="7974106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915A53-3BF1-4F6F-9553-925F8692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0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What is verified—and how to reproduce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3FAC30-05D6-47E5-A84B-9B00E883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A bounded academic prototype with explicit evidence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BF1284-9E9D-4E1F-83DA-EF39BFA5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0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2E45E3-E8DB-4FD5-95DE-4F949943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6B7D"/>
                </a:solidFill>
                <a:latin typeface="Arial"/>
                <a:ea typeface="Arial"/>
                <a:cs typeface="Arial"/>
              </a:rPr>
              <a:t>CITYBRAIN  ·  RESEARCH PROTOTYPE  ·  NOT FOR EMERGENCY DISPATCH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6D87FE-CF28-4971-9567-35FAF8C0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66875"/>
            <a:ext cx="46863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14288">
            <a:solidFill>
              <a:srgbClr val="087E8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D8924F-5B39-4F11-A5BD-C3884BFD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00225"/>
            <a:ext cx="43434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Verified in simulation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60-cell study · 447 pytest tests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10 compatibility scripts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2,172/2,172 historical entries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74B764-5DB2-4BA8-8363-957258D6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66875"/>
            <a:ext cx="46863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14288">
            <a:solidFill>
              <a:srgbClr val="D7B8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66D6AF-F621-423E-BC8B-FC494BFF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800225"/>
            <a:ext cx="43434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Not established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Live Chennai traffic coverage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Real signal control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62A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2A3E"/>
                </a:solidFill>
                <a:latin typeface="Arial"/>
                <a:ea typeface="Arial"/>
                <a:cs typeface="Arial"/>
              </a:rPr>
              <a:t>Clinical readiness / emergency dispatch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B9BC23-67E2-4DB6-BA27-75906FE7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1">
                <a:solidFill>
                  <a:srgbClr val="596B7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596B7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596B7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596B7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596B7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596B7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596B7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596B7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596B7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596B7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596B7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96B7D"/>
                </a:solidFill>
                <a:latin typeface="Arial"/>
                <a:ea typeface="Arial"/>
                <a:cs typeface="Arial"/>
              </a:rPr>
              <a:t>Demo command (synthetic replay-assisted mode)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95E295-9C57-4D59-AB3F-F9918D90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9600"/>
            <a:ext cx="104394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4288">
            <a:solidFill>
              <a:srgbClr val="1024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C27717-13DB-4163-8678-632357D8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52950"/>
            <a:ext cx="1009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./tools/run_chennai.sh --mode replay-assisted --experimental-traffic-evaluation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D38D4-3E87-4C49-897E-28FC484F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29250"/>
            <a:ext cx="971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ctr"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Demo A: Chennai SUCCESS, zero route changes  |  Demo B: saved S08 grid P0 → P1 → P2</a:t>
            </a:r>
          </a:p>
        </p:txBody>
      </p:sp>
    </p:spTree>
    <p:extLst>
      <p:ext uri="{BB962C8B-B14F-4D97-AF65-F5344CB8AC3E}">
        <p14:creationId xmlns:p14="http://schemas.microsoft.com/office/powerpoint/2010/main" val="7095093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2026-10-18T18:00:25.8710000Z</dcterms:created>
  <dcterms:modified xsi:type="dcterms:W3CDTF">2026-10-18T18:00:25.8710000Z</dcterms:modified>
</coreProperties>
</file>